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nva Sans Bold" charset="1" panose="020B0803030501040103"/>
      <p:regular r:id="rId15"/>
    </p:embeddedFont>
    <p:embeddedFont>
      <p:font typeface="Anton" charset="1" panose="00000500000000000000"/>
      <p:regular r:id="rId16"/>
    </p:embeddedFont>
    <p:embeddedFont>
      <p:font typeface="Poppins" charset="1" panose="00000500000000000000"/>
      <p:regular r:id="rId17"/>
    </p:embeddedFont>
    <p:embeddedFont>
      <p:font typeface="Canva Sans" charset="1" panose="020B0503030501040103"/>
      <p:regular r:id="rId18"/>
    </p:embeddedFont>
    <p:embeddedFont>
      <p:font typeface="Poppins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gif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gif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gif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3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3.gif" Type="http://schemas.openxmlformats.org/officeDocument/2006/relationships/image"/><Relationship Id="rId7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gif" Type="http://schemas.openxmlformats.org/officeDocument/2006/relationships/image"/><Relationship Id="rId7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85A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20109" y="2605709"/>
            <a:ext cx="5077990" cy="507799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165946">
            <a:off x="8558360" y="507114"/>
            <a:ext cx="9272857" cy="9092355"/>
            <a:chOff x="0" y="0"/>
            <a:chExt cx="812800" cy="796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96978"/>
            </a:xfrm>
            <a:custGeom>
              <a:avLst/>
              <a:gdLst/>
              <a:ahLst/>
              <a:cxnLst/>
              <a:rect r="r" b="b" t="t" l="l"/>
              <a:pathLst>
                <a:path h="796978" w="812800">
                  <a:moveTo>
                    <a:pt x="406400" y="0"/>
                  </a:moveTo>
                  <a:cubicBezTo>
                    <a:pt x="181951" y="0"/>
                    <a:pt x="0" y="178410"/>
                    <a:pt x="0" y="398489"/>
                  </a:cubicBezTo>
                  <a:cubicBezTo>
                    <a:pt x="0" y="618569"/>
                    <a:pt x="181951" y="796978"/>
                    <a:pt x="406400" y="796978"/>
                  </a:cubicBezTo>
                  <a:cubicBezTo>
                    <a:pt x="630849" y="796978"/>
                    <a:pt x="812800" y="618569"/>
                    <a:pt x="812800" y="398489"/>
                  </a:cubicBezTo>
                  <a:cubicBezTo>
                    <a:pt x="812800" y="178410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795AC6">
                      <a:alpha val="4500"/>
                    </a:srgbClr>
                  </a:gs>
                  <a:gs pos="100000">
                    <a:srgbClr val="5540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6617"/>
              <a:ext cx="660400" cy="685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694109">
            <a:off x="9125957" y="1124174"/>
            <a:ext cx="8014237" cy="7858235"/>
            <a:chOff x="0" y="0"/>
            <a:chExt cx="812800" cy="796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796978"/>
            </a:xfrm>
            <a:custGeom>
              <a:avLst/>
              <a:gdLst/>
              <a:ahLst/>
              <a:cxnLst/>
              <a:rect r="r" b="b" t="t" l="l"/>
              <a:pathLst>
                <a:path h="796978" w="812800">
                  <a:moveTo>
                    <a:pt x="406400" y="0"/>
                  </a:moveTo>
                  <a:cubicBezTo>
                    <a:pt x="181951" y="0"/>
                    <a:pt x="0" y="178410"/>
                    <a:pt x="0" y="398489"/>
                  </a:cubicBezTo>
                  <a:cubicBezTo>
                    <a:pt x="0" y="618569"/>
                    <a:pt x="181951" y="796978"/>
                    <a:pt x="406400" y="796978"/>
                  </a:cubicBezTo>
                  <a:cubicBezTo>
                    <a:pt x="630849" y="796978"/>
                    <a:pt x="812800" y="618569"/>
                    <a:pt x="812800" y="398489"/>
                  </a:cubicBezTo>
                  <a:cubicBezTo>
                    <a:pt x="812800" y="178410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795AC6">
                      <a:alpha val="4500"/>
                    </a:srgbClr>
                  </a:gs>
                  <a:gs pos="100000">
                    <a:srgbClr val="C6BF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6617"/>
              <a:ext cx="660400" cy="685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10861334" y="4598030"/>
            <a:ext cx="15304372" cy="15304372"/>
          </a:xfrm>
          <a:custGeom>
            <a:avLst/>
            <a:gdLst/>
            <a:ahLst/>
            <a:cxnLst/>
            <a:rect r="r" b="b" t="t" l="l"/>
            <a:pathLst>
              <a:path h="15304372" w="15304372">
                <a:moveTo>
                  <a:pt x="0" y="0"/>
                </a:moveTo>
                <a:lnTo>
                  <a:pt x="15304372" y="0"/>
                </a:lnTo>
                <a:lnTo>
                  <a:pt x="15304372" y="15304372"/>
                </a:lnTo>
                <a:lnTo>
                  <a:pt x="0" y="15304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true" flipV="false" rot="0">
            <a:off x="10527156" y="742462"/>
            <a:ext cx="3958208" cy="189994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true" flipV="false" rot="0">
            <a:off x="12812316" y="7644598"/>
            <a:ext cx="3958208" cy="189994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-1316342" y="5207210"/>
            <a:ext cx="9629812" cy="1818800"/>
            <a:chOff x="0" y="0"/>
            <a:chExt cx="2109677" cy="3984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09677" cy="398459"/>
            </a:xfrm>
            <a:custGeom>
              <a:avLst/>
              <a:gdLst/>
              <a:ahLst/>
              <a:cxnLst/>
              <a:rect r="r" b="b" t="t" l="l"/>
              <a:pathLst>
                <a:path h="398459" w="2109677">
                  <a:moveTo>
                    <a:pt x="0" y="0"/>
                  </a:moveTo>
                  <a:lnTo>
                    <a:pt x="2109677" y="0"/>
                  </a:lnTo>
                  <a:lnTo>
                    <a:pt x="2109677" y="398459"/>
                  </a:lnTo>
                  <a:lnTo>
                    <a:pt x="0" y="398459"/>
                  </a:lnTo>
                  <a:close/>
                </a:path>
              </a:pathLst>
            </a:custGeom>
            <a:gradFill rotWithShape="true">
              <a:gsLst>
                <a:gs pos="0">
                  <a:srgbClr val="3428BA">
                    <a:alpha val="100000"/>
                  </a:srgbClr>
                </a:gs>
                <a:gs pos="100000">
                  <a:srgbClr val="5FA2D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09677" cy="436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16970" y="3027351"/>
            <a:ext cx="7796500" cy="447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8"/>
              </a:lnSpc>
              <a:spcBef>
                <a:spcPct val="0"/>
              </a:spcBef>
            </a:pPr>
            <a:r>
              <a:rPr lang="en-US" b="true" sz="2641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COMPUTER NETWORKING &amp; CYBER SECURITY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99680" y="3505755"/>
            <a:ext cx="5859013" cy="1965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1"/>
              </a:lnSpc>
              <a:spcBef>
                <a:spcPct val="0"/>
              </a:spcBef>
            </a:pPr>
            <a:r>
              <a:rPr lang="en-US" sz="11494">
                <a:solidFill>
                  <a:srgbClr val="3428BA"/>
                </a:solidFill>
                <a:latin typeface="Anton"/>
                <a:ea typeface="Anton"/>
                <a:cs typeface="Anton"/>
                <a:sym typeface="Anton"/>
              </a:rPr>
              <a:t>WESTFOLD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9680" y="4988135"/>
            <a:ext cx="7728876" cy="1965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1"/>
              </a:lnSpc>
              <a:spcBef>
                <a:spcPct val="0"/>
              </a:spcBef>
            </a:pPr>
            <a:r>
              <a:rPr lang="en-US" sz="1149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TEXTILE MILLS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966" y="7326704"/>
            <a:ext cx="928404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Multi-Site Routing, Access Control &amp; Address Translation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9680" y="8053779"/>
            <a:ext cx="308416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CASE STUDY NO. 46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99680" y="8546943"/>
            <a:ext cx="2268215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b="true" sz="2499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ishi Chopda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150096725128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85A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34017" y="1913509"/>
            <a:ext cx="17871339" cy="17871339"/>
          </a:xfrm>
          <a:custGeom>
            <a:avLst/>
            <a:gdLst/>
            <a:ahLst/>
            <a:cxnLst/>
            <a:rect r="r" b="b" t="t" l="l"/>
            <a:pathLst>
              <a:path h="17871339" w="17871339">
                <a:moveTo>
                  <a:pt x="0" y="0"/>
                </a:moveTo>
                <a:lnTo>
                  <a:pt x="17871339" y="0"/>
                </a:lnTo>
                <a:lnTo>
                  <a:pt x="17871339" y="17871339"/>
                </a:lnTo>
                <a:lnTo>
                  <a:pt x="0" y="17871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021" y="4847745"/>
            <a:ext cx="2947693" cy="4114800"/>
          </a:xfrm>
          <a:custGeom>
            <a:avLst/>
            <a:gdLst/>
            <a:ahLst/>
            <a:cxnLst/>
            <a:rect r="r" b="b" t="t" l="l"/>
            <a:pathLst>
              <a:path h="4114800" w="2947693">
                <a:moveTo>
                  <a:pt x="0" y="0"/>
                </a:moveTo>
                <a:lnTo>
                  <a:pt x="2947693" y="0"/>
                </a:lnTo>
                <a:lnTo>
                  <a:pt x="29476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1028700" y="4303831"/>
            <a:ext cx="1098588" cy="1381871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flipV="true">
            <a:off x="7955188" y="3958094"/>
            <a:ext cx="2134301" cy="0"/>
          </a:xfrm>
          <a:prstGeom prst="line">
            <a:avLst/>
          </a:prstGeom>
          <a:ln cap="flat" w="142875">
            <a:gradFill>
              <a:gsLst>
                <a:gs pos="0">
                  <a:srgbClr val="3428BA">
                    <a:alpha val="100000"/>
                  </a:srgbClr>
                </a:gs>
                <a:gs pos="100000">
                  <a:srgbClr val="5FA2DB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4129181" y="211284"/>
            <a:ext cx="9347289" cy="2925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47"/>
              </a:lnSpc>
              <a:spcBef>
                <a:spcPct val="0"/>
              </a:spcBef>
            </a:pPr>
            <a:r>
              <a:rPr lang="en-US" sz="8391">
                <a:solidFill>
                  <a:srgbClr val="3428BA"/>
                </a:solidFill>
                <a:latin typeface="Anton"/>
                <a:ea typeface="Anton"/>
                <a:cs typeface="Anton"/>
                <a:sym typeface="Anton"/>
              </a:rPr>
              <a:t>CASE STUDY &amp;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38362" y="5213206"/>
            <a:ext cx="4499797" cy="4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428BA"/>
                </a:solidFill>
                <a:latin typeface="Poppins"/>
                <a:ea typeface="Poppins"/>
                <a:cs typeface="Poppins"/>
                <a:sym typeface="Poppins"/>
              </a:rPr>
              <a:t>Westfold Textile Mills consists of a Headquarters, a Weaving Plant, and the recently acquired Loomcraft Fabrics network. The network is designed to provide communication between these sites while maintaining the existing EIGRP environment at Loomcraft.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150454" y="2246431"/>
            <a:ext cx="2947693" cy="4114800"/>
          </a:xfrm>
          <a:custGeom>
            <a:avLst/>
            <a:gdLst/>
            <a:ahLst/>
            <a:cxnLst/>
            <a:rect r="r" b="b" t="t" l="l"/>
            <a:pathLst>
              <a:path h="4114800" w="2947693">
                <a:moveTo>
                  <a:pt x="0" y="0"/>
                </a:moveTo>
                <a:lnTo>
                  <a:pt x="2947693" y="0"/>
                </a:lnTo>
                <a:lnTo>
                  <a:pt x="29476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16056079" y="5391660"/>
            <a:ext cx="1203221" cy="1513485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5222880" y="4496220"/>
            <a:ext cx="166531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Case Study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83784" y="4496220"/>
            <a:ext cx="253863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OBJECTIVES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38158" y="5241781"/>
            <a:ext cx="4696033" cy="374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428BA"/>
                </a:solidFill>
                <a:latin typeface="Canva Sans"/>
                <a:ea typeface="Canva Sans"/>
                <a:cs typeface="Canva Sans"/>
                <a:sym typeface="Canva Sans"/>
              </a:rPr>
              <a:t>Multi-area OSPF for HQ–Plant routing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428BA"/>
                </a:solidFill>
                <a:latin typeface="Canva Sans"/>
                <a:ea typeface="Canva Sans"/>
                <a:cs typeface="Canva Sans"/>
                <a:sym typeface="Canva Sans"/>
              </a:rPr>
              <a:t>EIGRP AS 950 for Loomcraft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428BA"/>
                </a:solidFill>
                <a:latin typeface="Canva Sans"/>
                <a:ea typeface="Canva Sans"/>
                <a:cs typeface="Canva Sans"/>
                <a:sym typeface="Canva Sans"/>
              </a:rPr>
              <a:t>OSPF–EIGRP redistribution &amp; summarization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428BA"/>
                </a:solidFill>
                <a:latin typeface="Canva Sans"/>
                <a:ea typeface="Canva Sans"/>
                <a:cs typeface="Canva Sans"/>
                <a:sym typeface="Canva Sans"/>
              </a:rPr>
              <a:t>eBGP with two Internet Service Providers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428BA"/>
                </a:solidFill>
                <a:latin typeface="Canva Sans"/>
                <a:ea typeface="Canva Sans"/>
                <a:cs typeface="Canva Sans"/>
                <a:sym typeface="Canva Sans"/>
              </a:rPr>
              <a:t>VLANs, ACLs &amp; NAT/PAT for security and connectivity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85A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34017" y="322630"/>
            <a:ext cx="17871339" cy="17871339"/>
          </a:xfrm>
          <a:custGeom>
            <a:avLst/>
            <a:gdLst/>
            <a:ahLst/>
            <a:cxnLst/>
            <a:rect r="r" b="b" t="t" l="l"/>
            <a:pathLst>
              <a:path h="17871339" w="17871339">
                <a:moveTo>
                  <a:pt x="0" y="0"/>
                </a:moveTo>
                <a:lnTo>
                  <a:pt x="17871339" y="0"/>
                </a:lnTo>
                <a:lnTo>
                  <a:pt x="17871339" y="17871340"/>
                </a:lnTo>
                <a:lnTo>
                  <a:pt x="0" y="17871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82152" y="3758774"/>
            <a:ext cx="9324489" cy="5215886"/>
          </a:xfrm>
          <a:custGeom>
            <a:avLst/>
            <a:gdLst/>
            <a:ahLst/>
            <a:cxnLst/>
            <a:rect r="r" b="b" t="t" l="l"/>
            <a:pathLst>
              <a:path h="5215886" w="9324489">
                <a:moveTo>
                  <a:pt x="0" y="0"/>
                </a:moveTo>
                <a:lnTo>
                  <a:pt x="9324489" y="0"/>
                </a:lnTo>
                <a:lnTo>
                  <a:pt x="9324489" y="5215886"/>
                </a:lnTo>
                <a:lnTo>
                  <a:pt x="0" y="52158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0380" y="532180"/>
            <a:ext cx="11466235" cy="2959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6"/>
              </a:lnSpc>
            </a:pPr>
            <a:r>
              <a:rPr lang="en-US" sz="11352">
                <a:solidFill>
                  <a:srgbClr val="3428BA"/>
                </a:solidFill>
                <a:latin typeface="Anton"/>
                <a:ea typeface="Anton"/>
                <a:cs typeface="Anton"/>
                <a:sym typeface="Anton"/>
              </a:rPr>
              <a:t>NETWORK TOPOLOGY &amp; ADDRESSING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9683" y="4286456"/>
            <a:ext cx="6849415" cy="408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7"/>
              </a:lnSpc>
            </a:pPr>
            <a:r>
              <a:rPr lang="en-US" sz="2884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NETWORK SEGMENTS</a:t>
            </a:r>
          </a:p>
          <a:p>
            <a:pPr algn="l" marL="622669" indent="-311335" lvl="1">
              <a:lnSpc>
                <a:spcPts val="4037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HQ–Pl</a:t>
            </a:r>
            <a:r>
              <a:rPr lang="en-US" sz="288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ant: 172.31.0.0/30</a:t>
            </a:r>
          </a:p>
          <a:p>
            <a:pPr algn="l" marL="622669" indent="-311335" lvl="1">
              <a:lnSpc>
                <a:spcPts val="4037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Plant LAN: 172.31.10.0/24</a:t>
            </a:r>
          </a:p>
          <a:p>
            <a:pPr algn="l" marL="622669" indent="-311335" lvl="1">
              <a:lnSpc>
                <a:spcPts val="4037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Finance VLAN 15: 172.31.15.0/24</a:t>
            </a:r>
          </a:p>
          <a:p>
            <a:pPr algn="l" marL="622669" indent="-311335" lvl="1">
              <a:lnSpc>
                <a:spcPts val="4037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Guest VLAN 85: 172.31.85.0/24</a:t>
            </a:r>
          </a:p>
          <a:p>
            <a:pPr algn="l" marL="622669" indent="-311335" lvl="1">
              <a:lnSpc>
                <a:spcPts val="4037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Loomcraft: 172.31.50.0/24</a:t>
            </a:r>
          </a:p>
          <a:p>
            <a:pPr algn="l" marL="622669" indent="-311335" lvl="1">
              <a:lnSpc>
                <a:spcPts val="4037"/>
              </a:lnSpc>
              <a:buFont typeface="Arial"/>
              <a:buChar char="•"/>
            </a:pPr>
            <a:r>
              <a:rPr lang="en-US" sz="2884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Public NAT Block: 198.51.100.24/29</a:t>
            </a:r>
          </a:p>
          <a:p>
            <a:pPr algn="l">
              <a:lnSpc>
                <a:spcPts val="4037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165064" y="9400221"/>
            <a:ext cx="11181234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 Routers • 4 Switches • 10 End Devices • Dual ISP Connectivity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85A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34017" y="1913509"/>
            <a:ext cx="17871339" cy="17871339"/>
          </a:xfrm>
          <a:custGeom>
            <a:avLst/>
            <a:gdLst/>
            <a:ahLst/>
            <a:cxnLst/>
            <a:rect r="r" b="b" t="t" l="l"/>
            <a:pathLst>
              <a:path h="17871339" w="17871339">
                <a:moveTo>
                  <a:pt x="0" y="0"/>
                </a:moveTo>
                <a:lnTo>
                  <a:pt x="17871339" y="0"/>
                </a:lnTo>
                <a:lnTo>
                  <a:pt x="17871339" y="17871339"/>
                </a:lnTo>
                <a:lnTo>
                  <a:pt x="0" y="17871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3685" y="621117"/>
            <a:ext cx="14406424" cy="158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2"/>
              </a:lnSpc>
            </a:pPr>
            <a:r>
              <a:rPr lang="en-US" sz="11952">
                <a:solidFill>
                  <a:srgbClr val="3428BA"/>
                </a:solidFill>
                <a:latin typeface="Anton"/>
                <a:ea typeface="Anton"/>
                <a:cs typeface="Anton"/>
                <a:sym typeface="Anton"/>
              </a:rPr>
              <a:t>ROUTING ARCHITECTURE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020109" y="2605709"/>
            <a:ext cx="5077990" cy="507799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true" flipV="false" rot="0">
            <a:off x="14221701" y="392517"/>
            <a:ext cx="3958208" cy="189994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true" flipV="false" rot="0">
            <a:off x="15938961" y="8731663"/>
            <a:ext cx="3240285" cy="1555337"/>
          </a:xfrm>
          <a:prstGeom prst="rect">
            <a:avLst/>
          </a:prstGeom>
        </p:spPr>
      </p:pic>
      <p:sp>
        <p:nvSpPr>
          <p:cNvPr name="Freeform 9" id="9"/>
          <p:cNvSpPr/>
          <p:nvPr/>
        </p:nvSpPr>
        <p:spPr>
          <a:xfrm flipH="false" flipV="false" rot="0">
            <a:off x="613685" y="5430556"/>
            <a:ext cx="7152001" cy="3200282"/>
          </a:xfrm>
          <a:custGeom>
            <a:avLst/>
            <a:gdLst/>
            <a:ahLst/>
            <a:cxnLst/>
            <a:rect r="r" b="b" t="t" l="l"/>
            <a:pathLst>
              <a:path h="3200282" w="7152001">
                <a:moveTo>
                  <a:pt x="0" y="0"/>
                </a:moveTo>
                <a:lnTo>
                  <a:pt x="7152001" y="0"/>
                </a:lnTo>
                <a:lnTo>
                  <a:pt x="7152001" y="3200282"/>
                </a:lnTo>
                <a:lnTo>
                  <a:pt x="0" y="32002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46860" y="5572232"/>
            <a:ext cx="8842853" cy="3332650"/>
          </a:xfrm>
          <a:custGeom>
            <a:avLst/>
            <a:gdLst/>
            <a:ahLst/>
            <a:cxnLst/>
            <a:rect r="r" b="b" t="t" l="l"/>
            <a:pathLst>
              <a:path h="3332650" w="8842853">
                <a:moveTo>
                  <a:pt x="0" y="0"/>
                </a:moveTo>
                <a:lnTo>
                  <a:pt x="8842853" y="0"/>
                </a:lnTo>
                <a:lnTo>
                  <a:pt x="8842853" y="3332650"/>
                </a:lnTo>
                <a:lnTo>
                  <a:pt x="0" y="33326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8784" y="2522256"/>
            <a:ext cx="7548863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STATIC ROUTING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Initial Connectivity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Initial HQ–Plant connectivity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Default route from HQ-EDGE toward the ISP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HQ–Plant static routes were later replaced by OSPF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08302" y="9331922"/>
            <a:ext cx="12792521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OSPF adjacency: FULL • Plant route learned dynamically: 172.31.10.0/24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59031" y="2244832"/>
            <a:ext cx="6418511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OSPF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Dynamic Routing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499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rocess ID: 10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Area 0: HQ backbone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Area 10: Plant LAN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PLANT-ABR connects Area 0 ↔ Area 10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DR/BDR election verified on Plant LAN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85A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34017" y="1913509"/>
            <a:ext cx="17871339" cy="17871339"/>
          </a:xfrm>
          <a:custGeom>
            <a:avLst/>
            <a:gdLst/>
            <a:ahLst/>
            <a:cxnLst/>
            <a:rect r="r" b="b" t="t" l="l"/>
            <a:pathLst>
              <a:path h="17871339" w="17871339">
                <a:moveTo>
                  <a:pt x="0" y="0"/>
                </a:moveTo>
                <a:lnTo>
                  <a:pt x="17871339" y="0"/>
                </a:lnTo>
                <a:lnTo>
                  <a:pt x="17871339" y="17871339"/>
                </a:lnTo>
                <a:lnTo>
                  <a:pt x="0" y="17871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true" flipV="false" rot="0">
            <a:off x="615180" y="640465"/>
            <a:ext cx="3958208" cy="189994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true" flipV="false" rot="0">
            <a:off x="327410" y="9011410"/>
            <a:ext cx="3240285" cy="1555337"/>
          </a:xfrm>
          <a:prstGeom prst="rect">
            <a:avLst/>
          </a:prstGeom>
        </p:spPr>
      </p:pic>
      <p:sp>
        <p:nvSpPr>
          <p:cNvPr name="Freeform 5" id="5"/>
          <p:cNvSpPr/>
          <p:nvPr/>
        </p:nvSpPr>
        <p:spPr>
          <a:xfrm flipH="false" flipV="false" rot="0">
            <a:off x="-464257" y="2540405"/>
            <a:ext cx="10075289" cy="6716860"/>
          </a:xfrm>
          <a:custGeom>
            <a:avLst/>
            <a:gdLst/>
            <a:ahLst/>
            <a:cxnLst/>
            <a:rect r="r" b="b" t="t" l="l"/>
            <a:pathLst>
              <a:path h="6716860" w="10075289">
                <a:moveTo>
                  <a:pt x="0" y="0"/>
                </a:moveTo>
                <a:lnTo>
                  <a:pt x="10075290" y="0"/>
                </a:lnTo>
                <a:lnTo>
                  <a:pt x="10075290" y="6716859"/>
                </a:lnTo>
                <a:lnTo>
                  <a:pt x="0" y="67168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598735" y="439596"/>
            <a:ext cx="11302204" cy="1263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94"/>
              </a:lnSpc>
            </a:pPr>
            <a:r>
              <a:rPr lang="en-US" sz="8913">
                <a:solidFill>
                  <a:srgbClr val="3428BA"/>
                </a:solidFill>
                <a:latin typeface="Anton"/>
                <a:ea typeface="Anton"/>
                <a:cs typeface="Anton"/>
                <a:sym typeface="Anton"/>
              </a:rPr>
              <a:t>EIGRP &amp; REDISTRIBUTION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54068" y="2225992"/>
            <a:ext cx="6793161" cy="611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8379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EIGRP — LOOMCRAFT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AS 950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Existing Loomcraft routing domain maintained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Loomcraft LAN: 172.31.50.0/24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PLANT-BOUNDARY acts as the routing boundary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8379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ROUTE REDISTRIBUTION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OSPF → EIGRP routes advertised to Loomcraft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EIGRP → OSPF routes advertised toward HQ/Plant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Bidirectional connectivity verified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00734" y="8734742"/>
            <a:ext cx="903654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8379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ROUTE SUMMARIZATION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8379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172.31.0.0/16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8379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Internal Westfold networks summarized toward Loomcraft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85A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34017" y="1913509"/>
            <a:ext cx="17871339" cy="17871339"/>
          </a:xfrm>
          <a:custGeom>
            <a:avLst/>
            <a:gdLst/>
            <a:ahLst/>
            <a:cxnLst/>
            <a:rect r="r" b="b" t="t" l="l"/>
            <a:pathLst>
              <a:path h="17871339" w="17871339">
                <a:moveTo>
                  <a:pt x="0" y="0"/>
                </a:moveTo>
                <a:lnTo>
                  <a:pt x="17871339" y="0"/>
                </a:lnTo>
                <a:lnTo>
                  <a:pt x="17871339" y="17871339"/>
                </a:lnTo>
                <a:lnTo>
                  <a:pt x="0" y="17871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2605" y="2977515"/>
            <a:ext cx="8127266" cy="427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28379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BGP ARCHITECTURE</a:t>
            </a:r>
          </a:p>
          <a:p>
            <a:pPr algn="l">
              <a:lnSpc>
                <a:spcPts val="3779"/>
              </a:lnSpc>
            </a:pP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HQ-EDGE: AS 65120 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ISP-Crestline: AS 65022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ISP-Harbor: AS 65023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eBGP used between different Autonomous Systems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Public network: 198.51.100.24/29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487975" y="6523313"/>
            <a:ext cx="5794139" cy="5794139"/>
          </a:xfrm>
          <a:custGeom>
            <a:avLst/>
            <a:gdLst/>
            <a:ahLst/>
            <a:cxnLst/>
            <a:rect r="r" b="b" t="t" l="l"/>
            <a:pathLst>
              <a:path h="5794139" w="5794139">
                <a:moveTo>
                  <a:pt x="0" y="0"/>
                </a:moveTo>
                <a:lnTo>
                  <a:pt x="5794139" y="0"/>
                </a:lnTo>
                <a:lnTo>
                  <a:pt x="5794139" y="5794139"/>
                </a:lnTo>
                <a:lnTo>
                  <a:pt x="0" y="57941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30239" y="2579060"/>
            <a:ext cx="10257761" cy="5128880"/>
          </a:xfrm>
          <a:custGeom>
            <a:avLst/>
            <a:gdLst/>
            <a:ahLst/>
            <a:cxnLst/>
            <a:rect r="r" b="b" t="t" l="l"/>
            <a:pathLst>
              <a:path h="5128880" w="10257761">
                <a:moveTo>
                  <a:pt x="0" y="0"/>
                </a:moveTo>
                <a:lnTo>
                  <a:pt x="10257761" y="0"/>
                </a:lnTo>
                <a:lnTo>
                  <a:pt x="10257761" y="5128880"/>
                </a:lnTo>
                <a:lnTo>
                  <a:pt x="0" y="51288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6945" y="476505"/>
            <a:ext cx="12525705" cy="1437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47"/>
              </a:lnSpc>
              <a:spcBef>
                <a:spcPct val="0"/>
              </a:spcBef>
            </a:pPr>
            <a:r>
              <a:rPr lang="en-US" sz="8391">
                <a:solidFill>
                  <a:srgbClr val="3428BA"/>
                </a:solidFill>
                <a:latin typeface="Anton"/>
                <a:ea typeface="Anton"/>
                <a:cs typeface="Anton"/>
                <a:sym typeface="Anton"/>
              </a:rPr>
              <a:t>BGP &amp; DUAL ISP CONNECTIVITY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87893" y="8966357"/>
            <a:ext cx="1414360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Dual eBGP connections provide redundant Internet connectivity with failover between two independent ISPs.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rcRect l="0" t="0" r="0" b="0"/>
          <a:stretch>
            <a:fillRect/>
          </a:stretch>
        </p:blipFill>
        <p:spPr>
          <a:xfrm flipH="true" flipV="false" rot="0">
            <a:off x="14139536" y="-18360"/>
            <a:ext cx="3958208" cy="18999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85A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742546" y="322630"/>
            <a:ext cx="17871339" cy="17871339"/>
          </a:xfrm>
          <a:custGeom>
            <a:avLst/>
            <a:gdLst/>
            <a:ahLst/>
            <a:cxnLst/>
            <a:rect r="r" b="b" t="t" l="l"/>
            <a:pathLst>
              <a:path h="17871339" w="17871339">
                <a:moveTo>
                  <a:pt x="0" y="0"/>
                </a:moveTo>
                <a:lnTo>
                  <a:pt x="17871339" y="0"/>
                </a:lnTo>
                <a:lnTo>
                  <a:pt x="17871339" y="17871340"/>
                </a:lnTo>
                <a:lnTo>
                  <a:pt x="0" y="17871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268488" y="-276452"/>
            <a:ext cx="5077990" cy="507799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662955" y="6355681"/>
            <a:ext cx="5435815" cy="5805239"/>
          </a:xfrm>
          <a:custGeom>
            <a:avLst/>
            <a:gdLst/>
            <a:ahLst/>
            <a:cxnLst/>
            <a:rect r="r" b="b" t="t" l="l"/>
            <a:pathLst>
              <a:path h="5805239" w="5435815">
                <a:moveTo>
                  <a:pt x="0" y="0"/>
                </a:moveTo>
                <a:lnTo>
                  <a:pt x="5435814" y="0"/>
                </a:lnTo>
                <a:lnTo>
                  <a:pt x="5435814" y="5805238"/>
                </a:lnTo>
                <a:lnTo>
                  <a:pt x="0" y="580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true" flipV="false" rot="0">
            <a:off x="14268488" y="543816"/>
            <a:ext cx="3958208" cy="1899940"/>
          </a:xfrm>
          <a:prstGeom prst="rect">
            <a:avLst/>
          </a:prstGeom>
        </p:spPr>
      </p:pic>
      <p:sp>
        <p:nvSpPr>
          <p:cNvPr name="Freeform 8" id="8"/>
          <p:cNvSpPr/>
          <p:nvPr/>
        </p:nvSpPr>
        <p:spPr>
          <a:xfrm flipH="false" flipV="false" rot="0">
            <a:off x="241652" y="3157688"/>
            <a:ext cx="7581795" cy="4918926"/>
          </a:xfrm>
          <a:custGeom>
            <a:avLst/>
            <a:gdLst/>
            <a:ahLst/>
            <a:cxnLst/>
            <a:rect r="r" b="b" t="t" l="l"/>
            <a:pathLst>
              <a:path h="4918926" w="7581795">
                <a:moveTo>
                  <a:pt x="0" y="0"/>
                </a:moveTo>
                <a:lnTo>
                  <a:pt x="7581794" y="0"/>
                </a:lnTo>
                <a:lnTo>
                  <a:pt x="7581794" y="4918926"/>
                </a:lnTo>
                <a:lnTo>
                  <a:pt x="0" y="49189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378" r="0" b="-1378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91797" y="582128"/>
            <a:ext cx="10307250" cy="1642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27"/>
              </a:lnSpc>
              <a:spcBef>
                <a:spcPct val="0"/>
              </a:spcBef>
            </a:pPr>
            <a:r>
              <a:rPr lang="en-US" sz="9590">
                <a:solidFill>
                  <a:srgbClr val="3428BA"/>
                </a:solidFill>
                <a:latin typeface="Anton"/>
                <a:ea typeface="Anton"/>
                <a:cs typeface="Anton"/>
                <a:sym typeface="Anton"/>
              </a:rPr>
              <a:t>NAT/PAT &amp; STATIC NAT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81009" y="3110063"/>
            <a:ext cx="6636076" cy="568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8379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 / PAT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Internal network: 172.31.0.0/16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Public NAT block: 198.51.100.24/29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PAT: 198.51.100.26 – .29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HQ-EDGE performs NAT/PAT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Multiple internal devices share public addresses through PAT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8379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STATIC NAT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Web Server: 172.31.10.21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Public mapping: 198.51.100.30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Fixed one-to-one mapping for external access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3766" y="9210675"/>
            <a:ext cx="1355918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80E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NAT/PAT and Static NAT were configured on HQ-EDGE for controlled Internet connectivity.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85A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18325" y="-3889252"/>
            <a:ext cx="438826" cy="438826"/>
          </a:xfrm>
          <a:custGeom>
            <a:avLst/>
            <a:gdLst/>
            <a:ahLst/>
            <a:cxnLst/>
            <a:rect r="r" b="b" t="t" l="l"/>
            <a:pathLst>
              <a:path h="438826" w="438826">
                <a:moveTo>
                  <a:pt x="0" y="0"/>
                </a:moveTo>
                <a:lnTo>
                  <a:pt x="438826" y="0"/>
                </a:lnTo>
                <a:lnTo>
                  <a:pt x="438826" y="438826"/>
                </a:lnTo>
                <a:lnTo>
                  <a:pt x="0" y="438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742546" y="322630"/>
            <a:ext cx="17871339" cy="17871339"/>
          </a:xfrm>
          <a:custGeom>
            <a:avLst/>
            <a:gdLst/>
            <a:ahLst/>
            <a:cxnLst/>
            <a:rect r="r" b="b" t="t" l="l"/>
            <a:pathLst>
              <a:path h="17871339" w="17871339">
                <a:moveTo>
                  <a:pt x="0" y="0"/>
                </a:moveTo>
                <a:lnTo>
                  <a:pt x="17871339" y="0"/>
                </a:lnTo>
                <a:lnTo>
                  <a:pt x="17871339" y="17871340"/>
                </a:lnTo>
                <a:lnTo>
                  <a:pt x="0" y="178713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true" flipV="false" rot="0">
            <a:off x="0" y="507859"/>
            <a:ext cx="3240285" cy="155533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true" flipV="false" rot="0">
            <a:off x="14927916" y="8048212"/>
            <a:ext cx="3240285" cy="1555337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758148" y="2063196"/>
            <a:ext cx="9294383" cy="6196255"/>
          </a:xfrm>
          <a:custGeom>
            <a:avLst/>
            <a:gdLst/>
            <a:ahLst/>
            <a:cxnLst/>
            <a:rect r="r" b="b" t="t" l="l"/>
            <a:pathLst>
              <a:path h="6196255" w="9294383">
                <a:moveTo>
                  <a:pt x="0" y="0"/>
                </a:moveTo>
                <a:lnTo>
                  <a:pt x="9294383" y="0"/>
                </a:lnTo>
                <a:lnTo>
                  <a:pt x="9294383" y="6196256"/>
                </a:lnTo>
                <a:lnTo>
                  <a:pt x="0" y="61962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13066" y="593584"/>
            <a:ext cx="9061867" cy="1263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94"/>
              </a:lnSpc>
            </a:pPr>
            <a:r>
              <a:rPr lang="en-US" sz="8913">
                <a:solidFill>
                  <a:srgbClr val="3428BA"/>
                </a:solidFill>
                <a:latin typeface="Anton"/>
                <a:ea typeface="Anton"/>
                <a:cs typeface="Anton"/>
                <a:sym typeface="Anton"/>
              </a:rPr>
              <a:t> NETWORK SECURITY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66139" y="2368137"/>
            <a:ext cx="6793161" cy="568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8379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VLAN SEGMENTATION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Finance VLAN: 172.31.15.0/24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Guest VLAN: 172.31.85.0/24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VLANs separate Finance and Guest traffic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HQ-CO</a:t>
            </a: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RE subinterfaces provide inter-VLAN routing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28379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ACCESS CONTROL LIST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Extended ACL applied to Guest VLAN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Guest → Finance traffic is denied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83795"/>
                </a:solidFill>
                <a:latin typeface="Canva Sans"/>
                <a:ea typeface="Canva Sans"/>
                <a:cs typeface="Canva Sans"/>
                <a:sym typeface="Canva Sans"/>
              </a:rPr>
              <a:t>Other required traffic remains permitted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52404" y="9296160"/>
            <a:ext cx="1479440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80E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ACL verification confirmed that Guest devices cannot initiate connections to the Finance VLAN.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85A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742546" y="322630"/>
            <a:ext cx="17871339" cy="17871339"/>
          </a:xfrm>
          <a:custGeom>
            <a:avLst/>
            <a:gdLst/>
            <a:ahLst/>
            <a:cxnLst/>
            <a:rect r="r" b="b" t="t" l="l"/>
            <a:pathLst>
              <a:path h="17871339" w="17871339">
                <a:moveTo>
                  <a:pt x="0" y="0"/>
                </a:moveTo>
                <a:lnTo>
                  <a:pt x="17871339" y="0"/>
                </a:lnTo>
                <a:lnTo>
                  <a:pt x="17871339" y="17871340"/>
                </a:lnTo>
                <a:lnTo>
                  <a:pt x="0" y="17871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3017" y="2427284"/>
            <a:ext cx="5077990" cy="507799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138572" y="1605667"/>
            <a:ext cx="2147544" cy="214754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95AC6">
                    <a:alpha val="4500"/>
                  </a:srgbClr>
                </a:gs>
                <a:gs pos="100000">
                  <a:srgbClr val="5540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679217" y="2834119"/>
            <a:ext cx="8592580" cy="2435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29"/>
              </a:lnSpc>
              <a:spcBef>
                <a:spcPct val="0"/>
              </a:spcBef>
            </a:pPr>
            <a:r>
              <a:rPr lang="en-US" sz="14235">
                <a:solidFill>
                  <a:srgbClr val="3428BA"/>
                </a:solidFill>
                <a:latin typeface="Anton"/>
                <a:ea typeface="Anton"/>
                <a:cs typeface="Anton"/>
                <a:sym typeface="Anton"/>
              </a:rPr>
              <a:t>THANK YOU!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22116" y="5221923"/>
            <a:ext cx="977086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428B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Westfold Textile Mills — Multi-Site Networking &amp; Cyber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DAHWtBXzQP4</dc:identifier>
  <dcterms:modified xsi:type="dcterms:W3CDTF">2011-08-01T06:04:30Z</dcterms:modified>
  <cp:revision>1</cp:revision>
  <dc:title>exttile</dc:title>
</cp:coreProperties>
</file>